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1" r:id="rId28"/>
  </p:sldIdLst>
  <p:sldSz cx="9144000" cy="5143500" type="screen16x9"/>
  <p:notesSz cx="6858000" cy="9144000"/>
  <p:embeddedFontLst>
    <p:embeddedFont>
      <p:font typeface="Calibri" pitchFamily="34" charset="0"/>
      <p:regular r:id="rId30"/>
      <p:bold r:id="rId31"/>
      <p:italic r:id="rId32"/>
      <p:boldItalic r:id="rId33"/>
    </p:embeddedFont>
    <p:embeddedFont>
      <p:font typeface="Nunito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-786" y="-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79216cf1d3_0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79216cf1d3_0_3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79216cf1d3_0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79216cf1d3_0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79216cf1d3_0_3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79216cf1d3_0_3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79216cf1d3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79216cf1d3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79216cf1d3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79216cf1d3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79216cf1d3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79216cf1d3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79216cf1d3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79216cf1d3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79216cf1d3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79216cf1d3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79216cf1d3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79216cf1d3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79216cf1d3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79216cf1d3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79216cf1d3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79216cf1d3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79216cf1d3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79216cf1d3_0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79216cf1d3_0_3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79216cf1d3_0_3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79216cf1d3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79216cf1d3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79216cf1d3_0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79216cf1d3_0_2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79216cf1d3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79216cf1d3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79216cf1d3_0_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79216cf1d3_0_3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79216cf1d3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79216cf1d3_0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79216cf1d3_0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79216cf1d3_0_3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79216cf1d3_0_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79216cf1d3_0_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79216cf1d3_0_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79216cf1d3_0_3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79216cf1d3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79216cf1d3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79216cf1d3_0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79216cf1d3_0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79216cf1d3_0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79216cf1d3_0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79216cf1d3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79216cf1d3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79216cf1d3_0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79216cf1d3_0_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393500" y="801025"/>
            <a:ext cx="7940100" cy="165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04617B"/>
                </a:solidFill>
                <a:latin typeface="Calibri"/>
                <a:ea typeface="Calibri"/>
                <a:cs typeface="Calibri"/>
                <a:sym typeface="Calibri"/>
              </a:rPr>
              <a:t>Crop Production Analysis of Asia Continent </a:t>
            </a:r>
            <a:endParaRPr/>
          </a:p>
        </p:txBody>
      </p:sp>
      <p:sp>
        <p:nvSpPr>
          <p:cNvPr id="129" name="Google Shape;129;p13"/>
          <p:cNvSpPr txBox="1"/>
          <p:nvPr/>
        </p:nvSpPr>
        <p:spPr>
          <a:xfrm>
            <a:off x="5002924" y="3246325"/>
            <a:ext cx="3562100" cy="15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dirty="0"/>
              <a:t>Team members:</a:t>
            </a:r>
            <a:endParaRPr sz="1600" dirty="0"/>
          </a:p>
          <a:p>
            <a:pPr marL="0" lvl="0" indent="0" algn="just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dirty="0"/>
              <a:t>Ganesh L kalkote  </a:t>
            </a:r>
            <a:r>
              <a:rPr lang="en" sz="1600" dirty="0" smtClean="0"/>
              <a:t>PES1201902354</a:t>
            </a:r>
            <a:endParaRPr lang="en" sz="1600" dirty="0"/>
          </a:p>
          <a:p>
            <a:pPr marL="0" lvl="0" indent="0" algn="just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dirty="0" smtClean="0"/>
              <a:t>Vivek M                 PES1201902363</a:t>
            </a:r>
          </a:p>
          <a:p>
            <a:pPr marL="0" lvl="0" indent="0" algn="just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dirty="0" smtClean="0"/>
              <a:t>Sharath S              </a:t>
            </a:r>
            <a:r>
              <a:rPr lang="en" sz="1600" dirty="0"/>
              <a:t>PES1201902576</a:t>
            </a:r>
            <a:endParaRPr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04617B"/>
                </a:solidFill>
                <a:latin typeface="Calibri"/>
                <a:ea typeface="Calibri"/>
                <a:cs typeface="Calibri"/>
                <a:sym typeface="Calibri"/>
              </a:rPr>
              <a:t>Data Cleaning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 txBox="1">
            <a:spLocks noGrp="1"/>
          </p:cNvSpPr>
          <p:nvPr>
            <p:ph type="body" idx="1"/>
          </p:nvPr>
        </p:nvSpPr>
        <p:spPr>
          <a:xfrm>
            <a:off x="819150" y="829150"/>
            <a:ext cx="7505700" cy="36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715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500" b="1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 cleaning</a:t>
            </a:r>
            <a:r>
              <a:rPr lang="en" sz="25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is the process of identifying and removing (or correcting) inaccurate records from a dataset, table, or </a:t>
            </a:r>
            <a:r>
              <a:rPr lang="en" sz="2500" b="1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database</a:t>
            </a:r>
            <a:r>
              <a:rPr lang="en" sz="25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and refers to recognising unfinished, unreliable, inaccurate or non-relevant parts of the </a:t>
            </a:r>
            <a:r>
              <a:rPr lang="en" sz="2500" b="1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</a:t>
            </a:r>
            <a:r>
              <a:rPr lang="en" sz="25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and then restoring, remodelling, or removing the dirty or crude </a:t>
            </a:r>
            <a:r>
              <a:rPr lang="en" sz="2500" b="1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</a:t>
            </a:r>
            <a:r>
              <a:rPr lang="en" sz="25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>
            <a:spLocks noGrp="1"/>
          </p:cNvSpPr>
          <p:nvPr>
            <p:ph type="title"/>
          </p:nvPr>
        </p:nvSpPr>
        <p:spPr>
          <a:xfrm>
            <a:off x="819150" y="548150"/>
            <a:ext cx="7505700" cy="73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rgbClr val="04617B"/>
                </a:solidFill>
                <a:latin typeface="Calibri"/>
                <a:ea typeface="Calibri"/>
                <a:cs typeface="Calibri"/>
                <a:sym typeface="Calibri"/>
              </a:rPr>
              <a:t>Removing outlier</a:t>
            </a:r>
            <a:endParaRPr dirty="0"/>
          </a:p>
        </p:txBody>
      </p:sp>
      <p:pic>
        <p:nvPicPr>
          <p:cNvPr id="145" name="Google Shape;14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863" y="1493988"/>
            <a:ext cx="3895725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5375" y="1603538"/>
            <a:ext cx="3448050" cy="295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Cont...</a:t>
            </a:r>
            <a:endParaRPr/>
          </a:p>
        </p:txBody>
      </p:sp>
      <p:pic>
        <p:nvPicPr>
          <p:cNvPr id="152" name="Google Shape;15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650" y="1800200"/>
            <a:ext cx="4569699" cy="30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7450" y="1952600"/>
            <a:ext cx="3532275" cy="279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>
            <a:spLocks noGrp="1"/>
          </p:cNvSpPr>
          <p:nvPr>
            <p:ph type="title"/>
          </p:nvPr>
        </p:nvSpPr>
        <p:spPr>
          <a:xfrm>
            <a:off x="819150" y="384225"/>
            <a:ext cx="7505700" cy="7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Histogram after transforming mean value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950" y="2254325"/>
            <a:ext cx="421005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8775" y="2425225"/>
            <a:ext cx="3876675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>
            <a:spLocks noGrp="1"/>
          </p:cNvSpPr>
          <p:nvPr>
            <p:ph type="title"/>
          </p:nvPr>
        </p:nvSpPr>
        <p:spPr>
          <a:xfrm>
            <a:off x="819150" y="384225"/>
            <a:ext cx="7505700" cy="7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Before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6" name="Google Shape;16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750" y="1222625"/>
            <a:ext cx="8067675" cy="34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>
            <a:spLocks noGrp="1"/>
          </p:cNvSpPr>
          <p:nvPr>
            <p:ph type="title"/>
          </p:nvPr>
        </p:nvSpPr>
        <p:spPr>
          <a:xfrm>
            <a:off x="819150" y="384225"/>
            <a:ext cx="7505700" cy="7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After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2" name="Google Shape;17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925" y="1236700"/>
            <a:ext cx="8080625" cy="349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04617B"/>
                </a:solidFill>
                <a:latin typeface="Calibri"/>
                <a:ea typeface="Calibri"/>
                <a:cs typeface="Calibri"/>
                <a:sym typeface="Calibri"/>
              </a:rPr>
              <a:t>Normalizing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 txBox="1">
            <a:spLocks noGrp="1"/>
          </p:cNvSpPr>
          <p:nvPr>
            <p:ph type="body" idx="1"/>
          </p:nvPr>
        </p:nvSpPr>
        <p:spPr>
          <a:xfrm>
            <a:off x="819150" y="829150"/>
            <a:ext cx="7505700" cy="36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715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500" b="1" dirty="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Normalization</a:t>
            </a:r>
            <a:r>
              <a:rPr lang="en" sz="2500" dirty="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is to change the values of numeric columns in the dataset to a common scale, without </a:t>
            </a:r>
            <a:r>
              <a:rPr lang="en" sz="2500" dirty="0" smtClean="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destroing </a:t>
            </a:r>
            <a:r>
              <a:rPr lang="en" sz="2500" dirty="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differences in the ranges of values. For machine learning, every dataset does not require </a:t>
            </a:r>
            <a:r>
              <a:rPr lang="en" sz="2500" b="1" dirty="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normalization</a:t>
            </a:r>
            <a:r>
              <a:rPr lang="en" sz="2500" dirty="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5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3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89" name="Google Shape;18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566738"/>
            <a:ext cx="7620000" cy="401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4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 Testing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5"/>
          <p:cNvSpPr txBox="1">
            <a:spLocks noGrp="1"/>
          </p:cNvSpPr>
          <p:nvPr>
            <p:ph type="body" idx="1"/>
          </p:nvPr>
        </p:nvSpPr>
        <p:spPr>
          <a:xfrm>
            <a:off x="819150" y="829150"/>
            <a:ext cx="7505700" cy="36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715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500" b="1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Hypothesis testing</a:t>
            </a:r>
            <a:r>
              <a:rPr lang="en" sz="25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is to draw inferences or some conclusion about the overall population or </a:t>
            </a:r>
            <a:r>
              <a:rPr lang="en" sz="2500" b="1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</a:t>
            </a:r>
            <a:r>
              <a:rPr lang="en" sz="25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by conducting some statistical </a:t>
            </a:r>
            <a:r>
              <a:rPr lang="en" sz="2500" b="1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tests</a:t>
            </a:r>
            <a:r>
              <a:rPr lang="en" sz="25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on a sample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>
            <a:spLocks noGrp="1"/>
          </p:cNvSpPr>
          <p:nvPr>
            <p:ph type="title"/>
          </p:nvPr>
        </p:nvSpPr>
        <p:spPr>
          <a:xfrm>
            <a:off x="819150" y="384225"/>
            <a:ext cx="7505700" cy="7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 Test</a:t>
            </a:r>
            <a:endParaRPr/>
          </a:p>
        </p:txBody>
      </p:sp>
      <p:pic>
        <p:nvPicPr>
          <p:cNvPr id="205" name="Google Shape;20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0175" y="1141425"/>
            <a:ext cx="6481124" cy="306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 Test</a:t>
            </a:r>
            <a:endParaRPr/>
          </a:p>
        </p:txBody>
      </p:sp>
      <p:pic>
        <p:nvPicPr>
          <p:cNvPr id="211" name="Google Shape;21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862" y="1952600"/>
            <a:ext cx="7628274" cy="213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04617B"/>
                </a:solidFill>
                <a:latin typeface="Calibri"/>
                <a:ea typeface="Calibri"/>
                <a:cs typeface="Calibri"/>
                <a:sym typeface="Calibri"/>
              </a:rPr>
              <a:t>Correlation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9"/>
          <p:cNvSpPr txBox="1">
            <a:spLocks noGrp="1"/>
          </p:cNvSpPr>
          <p:nvPr>
            <p:ph type="body" idx="1"/>
          </p:nvPr>
        </p:nvSpPr>
        <p:spPr>
          <a:xfrm>
            <a:off x="819150" y="829150"/>
            <a:ext cx="7505700" cy="36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715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500" b="1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Correlation</a:t>
            </a:r>
            <a:r>
              <a:rPr lang="en" sz="25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is a statistical measure. </a:t>
            </a:r>
            <a:r>
              <a:rPr lang="en" sz="2500" b="1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Correlation</a:t>
            </a:r>
            <a:r>
              <a:rPr lang="en" sz="25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explains how one or more variables are related to each other.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30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28" name="Google Shape;22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38" y="414325"/>
            <a:ext cx="7743825" cy="43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1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31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35" name="Google Shape;23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425" y="342975"/>
            <a:ext cx="8239125" cy="409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Visualization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3"/>
          <p:cNvSpPr txBox="1">
            <a:spLocks noGrp="1"/>
          </p:cNvSpPr>
          <p:nvPr>
            <p:ph type="body" idx="1"/>
          </p:nvPr>
        </p:nvSpPr>
        <p:spPr>
          <a:xfrm>
            <a:off x="819150" y="829150"/>
            <a:ext cx="7505700" cy="36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715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500" b="1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 visualization</a:t>
            </a:r>
            <a:r>
              <a:rPr lang="en" sz="25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refers to the techniques used to communicate </a:t>
            </a:r>
            <a:r>
              <a:rPr lang="en" sz="2500" b="1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</a:t>
            </a:r>
            <a:r>
              <a:rPr lang="en" sz="25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or information by encoding it as visual objects (e.g., points, lines or bars) contained in graphics.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3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52" name="Google Shape;25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625" y="590550"/>
            <a:ext cx="7524750" cy="39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3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59" name="Google Shape;25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988" y="485775"/>
            <a:ext cx="7820025" cy="41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36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66" name="Google Shape;26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975" y="520550"/>
            <a:ext cx="8020050" cy="418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7"/>
          <p:cNvSpPr txBox="1">
            <a:spLocks noGrp="1"/>
          </p:cNvSpPr>
          <p:nvPr>
            <p:ph type="title"/>
          </p:nvPr>
        </p:nvSpPr>
        <p:spPr>
          <a:xfrm>
            <a:off x="819150" y="334625"/>
            <a:ext cx="7505700" cy="10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04617B"/>
                </a:solidFill>
                <a:latin typeface="Calibri"/>
                <a:ea typeface="Calibri"/>
                <a:cs typeface="Calibri"/>
                <a:sym typeface="Calibri"/>
              </a:rPr>
              <a:t>According to the area Line chart</a:t>
            </a:r>
            <a:endParaRPr/>
          </a:p>
        </p:txBody>
      </p:sp>
      <p:sp>
        <p:nvSpPr>
          <p:cNvPr id="272" name="Google Shape;272;p37"/>
          <p:cNvSpPr txBox="1">
            <a:spLocks noGrp="1"/>
          </p:cNvSpPr>
          <p:nvPr>
            <p:ph type="body" idx="1"/>
          </p:nvPr>
        </p:nvSpPr>
        <p:spPr>
          <a:xfrm>
            <a:off x="819150" y="208987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73" name="Google Shape;27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875" y="1834300"/>
            <a:ext cx="7505700" cy="284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77" y="472376"/>
            <a:ext cx="7505700" cy="954600"/>
          </a:xfrm>
        </p:spPr>
        <p:txBody>
          <a:bodyPr/>
          <a:lstStyle/>
          <a:p>
            <a:r>
              <a:rPr lang="en-IN" dirty="0" smtClean="0"/>
              <a:t>Comparison of </a:t>
            </a:r>
            <a:r>
              <a:rPr lang="en-IN" smtClean="0"/>
              <a:t>1961 and 2014</a:t>
            </a: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 l="14474" t="45685" r="31144" b="6994"/>
          <a:stretch>
            <a:fillRect/>
          </a:stretch>
        </p:blipFill>
        <p:spPr bwMode="auto">
          <a:xfrm>
            <a:off x="327699" y="1971628"/>
            <a:ext cx="3983258" cy="1948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 l="15394" t="34821" r="30726" b="17857"/>
          <a:stretch>
            <a:fillRect/>
          </a:stretch>
        </p:blipFill>
        <p:spPr bwMode="auto">
          <a:xfrm>
            <a:off x="4683109" y="1944414"/>
            <a:ext cx="3809249" cy="1933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8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4500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4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217</Words>
  <Application>Microsoft Office PowerPoint</Application>
  <PresentationFormat>On-screen Show (16:9)</PresentationFormat>
  <Paragraphs>25</Paragraphs>
  <Slides>27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Nunito</vt:lpstr>
      <vt:lpstr>Times New Roman</vt:lpstr>
      <vt:lpstr>Shift</vt:lpstr>
      <vt:lpstr>Crop Production Analysis of Asia Continent </vt:lpstr>
      <vt:lpstr>Data Cleaning</vt:lpstr>
      <vt:lpstr>Slide 3</vt:lpstr>
      <vt:lpstr>Removing outlier</vt:lpstr>
      <vt:lpstr>Cont...</vt:lpstr>
      <vt:lpstr>Histogram after transforming mean value </vt:lpstr>
      <vt:lpstr>Before </vt:lpstr>
      <vt:lpstr>After </vt:lpstr>
      <vt:lpstr>Normalizing</vt:lpstr>
      <vt:lpstr>Slide 10</vt:lpstr>
      <vt:lpstr>Slide 11</vt:lpstr>
      <vt:lpstr>Hypothesis Testing</vt:lpstr>
      <vt:lpstr>Slide 13</vt:lpstr>
      <vt:lpstr>T Test</vt:lpstr>
      <vt:lpstr>Z Test</vt:lpstr>
      <vt:lpstr>Correlation</vt:lpstr>
      <vt:lpstr>Slide 17</vt:lpstr>
      <vt:lpstr>Slide 18</vt:lpstr>
      <vt:lpstr>Slide 19</vt:lpstr>
      <vt:lpstr>Data Visualization</vt:lpstr>
      <vt:lpstr>Slide 21</vt:lpstr>
      <vt:lpstr>Slide 22</vt:lpstr>
      <vt:lpstr>Slide 23</vt:lpstr>
      <vt:lpstr>Slide 24</vt:lpstr>
      <vt:lpstr>According to the area Line chart</vt:lpstr>
      <vt:lpstr>Comparison of 1961 and 2014</vt:lpstr>
      <vt:lpstr>Slide 27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Crop Production Analysis of Asia Continent </dc:title>
  <cp:lastModifiedBy>viki</cp:lastModifiedBy>
  <cp:revision>3</cp:revision>
  <dcterms:modified xsi:type="dcterms:W3CDTF">2019-11-23T04:00:52Z</dcterms:modified>
</cp:coreProperties>
</file>